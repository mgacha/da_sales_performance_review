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2" autoAdjust="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81A19-5B83-47D5-BB7A-7E5C42049C8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F43AA-90C3-4D77-9554-7E6B2327E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358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43AA-90C3-4D77-9554-7E6B2327E95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604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Executive</a:t>
            </a:r>
            <a:r>
              <a:rPr lang="pl-PL" dirty="0"/>
              <a:t> </a:t>
            </a:r>
            <a:r>
              <a:rPr lang="pl-PL" dirty="0" err="1"/>
              <a:t>Snapshot</a:t>
            </a:r>
            <a:endParaRPr lang="pl-PL" dirty="0"/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last 7 days, the business processed 213 orders, generating £95.82K in revenue and selling 1,086 units. The average order value was £449.84, and roughly 1 in 4 orders used a promotion.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day stands out 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29 April alone accounted for 102 orders and £47K, nearly half the week's total. That could be a bulk order, a campaign, or end-of-month buying. It needs to be looked into before we treat it as a normal trading day.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 the business is generating solid volume in a short window, with promotions used selectively rather than across the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universally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Takeaway: stable topline performance, with promotions as a targeted lever — not a dependency.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l-PL" dirty="0"/>
          </a:p>
          <a:p>
            <a:endParaRPr lang="pl-PL" dirty="0"/>
          </a:p>
          <a:p>
            <a:pPr>
              <a:defRPr sz="2000"/>
            </a:pPr>
            <a:r>
              <a:rPr lang="en-GB" dirty="0"/>
              <a:t>213 orders | GBP 95.82K revenue | 1,086 units sold</a:t>
            </a:r>
          </a:p>
          <a:p>
            <a:pPr>
              <a:defRPr sz="2000"/>
            </a:pPr>
            <a:r>
              <a:rPr lang="en-GB" dirty="0"/>
              <a:t>Average Order Value: GBP 449.84</a:t>
            </a:r>
          </a:p>
          <a:p>
            <a:pPr>
              <a:defRPr sz="2000"/>
            </a:pPr>
            <a:r>
              <a:rPr lang="en-GB" dirty="0"/>
              <a:t>Promotion Usage: 23.94% (51 of 213 orders)</a:t>
            </a:r>
          </a:p>
          <a:p>
            <a:pPr>
              <a:defRPr sz="2000"/>
            </a:pPr>
            <a:r>
              <a:rPr lang="en-GB" dirty="0"/>
              <a:t>Revenue per Unit: GBP 88.23</a:t>
            </a:r>
            <a:endParaRPr lang="pl-PL" dirty="0"/>
          </a:p>
          <a:p>
            <a:pPr>
              <a:defRPr sz="2000"/>
            </a:pPr>
            <a:r>
              <a:rPr lang="en-GB" dirty="0"/>
              <a:t>Peak day: 29 Apr — £47K revenue, 102 orders (49% of weekly total in one day)</a:t>
            </a:r>
            <a:endParaRPr lang="pl-PL" dirty="0"/>
          </a:p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43AA-90C3-4D77-9554-7E6B2327E95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298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/>
            </a:pPr>
            <a:r>
              <a:rPr lang="en-GB" dirty="0"/>
              <a:t>Revenue is concentrated in United Kingdom and US</a:t>
            </a:r>
          </a:p>
          <a:p>
            <a:pPr>
              <a:defRPr sz="2000"/>
            </a:pPr>
            <a:r>
              <a:rPr lang="en-GB" dirty="0"/>
              <a:t>Customer mix is led by Shops, then Online Retailers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Recommendation: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protect the strong segments (UK and Shops), and grow smaller segments with targeted offers.</a:t>
            </a:r>
          </a:p>
          <a:p>
            <a:pPr>
              <a:defRPr sz="2000"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43AA-90C3-4D77-9554-7E6B2327E95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338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Recommendations: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managers to copy what top reps do well (pipeline discipline, better deal quality, strong account routines).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 probation and low-performing reps on a 30-day recovery plan with weekly check-ins.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 each rep with simple KPIs: Orders, Revenue, Average Order Value, and Promo Revenue.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43AA-90C3-4D77-9554-7E6B2327E95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956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Recommendations: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Prioritize 5% and 10% tiers; restrict 15% to clear strategic cases.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approval guardrails for higher discounts.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controlled tests by rep/region to optimize discount vs volume response.</a:t>
            </a:r>
          </a:p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43AA-90C3-4D77-9554-7E6B2327E95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423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recommendation is a three-part plan: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Defend and grow core revenue pools in the UK and Shop/Online segments.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 rep consistency through manager-led coaching and a weekly performance cadence.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Optimize promotions toward lower discount tiers, with tighter controls on higher discounts.</a:t>
            </a:r>
            <a:endParaRPr lang="pl-P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43AA-90C3-4D77-9554-7E6B2327E95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8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840D2-0AF3-6044-EF72-FB2432DB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7B206-7461-21C0-466D-FA4BBE311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3A03F-8A2F-F446-86C9-CA570408D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92D69-2B6A-93A5-0E4C-28254E8D3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43AA-90C3-4D77-9554-7E6B2327E95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556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52D6C-059F-D254-2885-4CF4B8020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217CA4-43CA-E663-EE12-286974849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75CA2-22DF-3A3A-FA4E-4468CAC50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9682A-1C51-E557-6CF8-52E619BE4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43AA-90C3-4D77-9554-7E6B2327E95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729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D7642-8B06-C296-1380-D18129D92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8F691-7D76-5364-0DC0-F873526AE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95ECE-4F6F-2FB3-865A-CDC347AD2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3D4B1-8108-92C9-1D03-F7F73D2EF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43AA-90C3-4D77-9554-7E6B2327E95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28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378B8-090E-5959-E428-4E0A70249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CAA49-EFBC-6497-A3FA-BA77D3F9F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69C1B-F4B1-DB54-36C2-129A764BF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3EE76-63E9-6794-A4FE-E6A4E20AB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43AA-90C3-4D77-9554-7E6B2327E95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373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AFA21-6C19-D93F-8790-583F33EF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9017E-F6C2-96B7-491D-C521E9C45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53EAF-EFBE-0E6F-73CB-1A96FCE21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7C807-193D-5DCB-47BC-2D8669F93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43AA-90C3-4D77-9554-7E6B2327E95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998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295" y="2130425"/>
            <a:ext cx="7772400" cy="1470025"/>
          </a:xfrm>
        </p:spPr>
        <p:txBody>
          <a:bodyPr/>
          <a:lstStyle/>
          <a:p>
            <a:r>
              <a:rPr lang="en-GB" noProof="0" dirty="0"/>
              <a:t>Sales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GB" noProof="0" dirty="0"/>
              <a:t>Board Presentation </a:t>
            </a:r>
          </a:p>
          <a:p>
            <a:pPr algn="l"/>
            <a:r>
              <a:rPr lang="en-GB" noProof="0" dirty="0"/>
              <a:t>Findings and Recommendations </a:t>
            </a:r>
          </a:p>
          <a:p>
            <a:pPr algn="l"/>
            <a:r>
              <a:rPr lang="en-GB" noProof="0" dirty="0"/>
              <a:t>24 Apr 2026 - 30 Apr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6C97-B9D4-0639-8A70-20349A93CD5F}"/>
              </a:ext>
            </a:extLst>
          </p:cNvPr>
          <p:cNvSpPr txBox="1"/>
          <p:nvPr/>
        </p:nvSpPr>
        <p:spPr>
          <a:xfrm>
            <a:off x="1371600" y="5724495"/>
            <a:ext cx="3376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noProof="0" dirty="0"/>
              <a:t>Magdalena Bronowska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270339" cy="1143000"/>
          </a:xfrm>
        </p:spPr>
        <p:txBody>
          <a:bodyPr/>
          <a:lstStyle/>
          <a:p>
            <a:r>
              <a:rPr lang="en-GB" noProof="0" dirty="0"/>
              <a:t>Executive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2459865" y="1571223"/>
            <a:ext cx="2486372" cy="1857777"/>
          </a:xfrm>
          <a:prstGeom prst="rect">
            <a:avLst/>
          </a:prstGeom>
          <a:solidFill>
            <a:srgbClr val="F2F6FA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52657A"/>
                </a:solidFill>
              </a:defRPr>
            </a:pPr>
            <a:r>
              <a:rPr lang="en-GB" noProof="0" dirty="0"/>
              <a:t>Paste Screenshot: Executive KPI Dashboard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178D72-3AB3-CA43-4839-39094851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811" y="1213501"/>
            <a:ext cx="2486372" cy="26387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D5C4A6-71A3-12B5-D1C4-F221B3150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38" y="1213501"/>
            <a:ext cx="2429214" cy="26102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102F82-D2A1-BDEE-A673-EE0BC4D3C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028" y="3776084"/>
            <a:ext cx="2553056" cy="25625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E6BE54-941D-605D-C36F-B85F23616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6060" y="1789607"/>
            <a:ext cx="6081479" cy="41253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3326" cy="1143000"/>
          </a:xfrm>
        </p:spPr>
        <p:txBody>
          <a:bodyPr/>
          <a:lstStyle/>
          <a:p>
            <a:r>
              <a:rPr lang="en-GB" noProof="0" dirty="0"/>
              <a:t>Revenue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07923" y="1209368"/>
            <a:ext cx="3667432" cy="3323303"/>
          </a:xfrm>
          <a:prstGeom prst="rect">
            <a:avLst/>
          </a:prstGeom>
          <a:solidFill>
            <a:srgbClr val="F2F6FA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52657A"/>
                </a:solidFill>
              </a:defRPr>
            </a:pPr>
            <a:r>
              <a:rPr lang="en-GB" noProof="0" dirty="0"/>
              <a:t>Paste Screenshot: Revenue by Region + Revenue by Customer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75772" y="1371600"/>
            <a:ext cx="66199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GB" noProof="0" dirty="0"/>
              <a:t>- Revenue is concentrated in UK and US</a:t>
            </a:r>
          </a:p>
          <a:p>
            <a:pPr>
              <a:defRPr sz="2000"/>
            </a:pPr>
            <a:r>
              <a:rPr lang="en-GB" noProof="0" dirty="0"/>
              <a:t>- Customer mix is led by Shops, then Online Retailers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C010E7-9F02-C24B-D622-0773E79D9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1031"/>
            <a:ext cx="5175772" cy="4277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9E4B12-1F73-E4E2-64A2-790DEA8AB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278" y="2751836"/>
            <a:ext cx="6069744" cy="38315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929181-4ACF-DFFE-0157-E087FB61742B}"/>
              </a:ext>
            </a:extLst>
          </p:cNvPr>
          <p:cNvSpPr txBox="1"/>
          <p:nvPr/>
        </p:nvSpPr>
        <p:spPr>
          <a:xfrm>
            <a:off x="5240957" y="2006768"/>
            <a:ext cx="66199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GB" sz="2000" b="1" noProof="0" dirty="0"/>
              <a:t>Recommendation:</a:t>
            </a:r>
            <a:r>
              <a:rPr lang="en-GB" sz="2000" noProof="0" dirty="0"/>
              <a:t> protect the strong segments (UK and Shops), and grow smaller segments with targeted offers.</a:t>
            </a:r>
            <a:endParaRPr lang="en-GB" noProof="0" dirty="0"/>
          </a:p>
          <a:p>
            <a:pPr>
              <a:defRPr sz="2000"/>
            </a:pPr>
            <a:endParaRPr lang="en-GB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338560" cy="1143000"/>
          </a:xfrm>
        </p:spPr>
        <p:txBody>
          <a:bodyPr/>
          <a:lstStyle/>
          <a:p>
            <a:r>
              <a:rPr lang="en-GB" noProof="0" dirty="0"/>
              <a:t>Sales Rep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303520" cy="3241612"/>
          </a:xfrm>
          <a:prstGeom prst="rect">
            <a:avLst/>
          </a:prstGeom>
          <a:solidFill>
            <a:srgbClr val="F2F6FA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52657A"/>
                </a:solidFill>
              </a:defRPr>
            </a:pPr>
            <a:r>
              <a:rPr lang="en-GB" noProof="0" dirty="0"/>
              <a:t>Paste Screenshot: Sales Rep Performance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D24E86-414C-6929-EB68-AB9591969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88720"/>
            <a:ext cx="6545179" cy="41556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C662F2-C87B-1512-B3D3-3D38F2C6A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611" y="4420933"/>
            <a:ext cx="6412029" cy="22395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450" y="1179508"/>
            <a:ext cx="63013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GB" noProof="0" dirty="0"/>
              <a:t>- Performance is uneven across reps</a:t>
            </a:r>
          </a:p>
          <a:p>
            <a:pPr>
              <a:defRPr sz="2000"/>
            </a:pPr>
            <a:r>
              <a:rPr lang="en-GB" noProof="0" dirty="0"/>
              <a:t>- Top performers drive a large share of revenue</a:t>
            </a:r>
          </a:p>
          <a:p>
            <a:r>
              <a:rPr lang="en-GB" noProof="0" dirty="0"/>
              <a:t>- One probationary rep has zero output in period</a:t>
            </a:r>
            <a:br>
              <a:rPr lang="en-GB" noProof="0" dirty="0"/>
            </a:br>
            <a:r>
              <a:rPr lang="en-GB" sz="2000" b="1" noProof="0" dirty="0"/>
              <a:t>Recommendations:</a:t>
            </a:r>
          </a:p>
          <a:p>
            <a:r>
              <a:rPr lang="en-GB" sz="2000" noProof="0" dirty="0"/>
              <a:t>- Copy what top reps do well.</a:t>
            </a:r>
          </a:p>
          <a:p>
            <a:r>
              <a:rPr lang="en-GB" sz="2000" noProof="0" dirty="0"/>
              <a:t>- Put probation and low-performing reps on a recovery plan.</a:t>
            </a:r>
            <a:br>
              <a:rPr lang="en-GB" sz="2000" noProof="0" dirty="0"/>
            </a:br>
            <a:r>
              <a:rPr lang="en-GB" sz="2000" noProof="0" dirty="0"/>
              <a:t>- Track each rep with simple KPIs.</a:t>
            </a:r>
            <a:endParaRPr lang="en-GB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510211" cy="1143000"/>
          </a:xfrm>
        </p:spPr>
        <p:txBody>
          <a:bodyPr/>
          <a:lstStyle/>
          <a:p>
            <a:r>
              <a:rPr lang="en-GB" noProof="0" dirty="0"/>
              <a:t>Promotion Effectiveness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58989" y="1371600"/>
            <a:ext cx="32084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GB" noProof="0" dirty="0"/>
              <a:t>- 5% and 10% discount tiers outperform 15% on value</a:t>
            </a:r>
          </a:p>
          <a:p>
            <a:r>
              <a:rPr lang="en-GB" noProof="0" dirty="0"/>
              <a:t>- Promotions support volume but need discount discipline</a:t>
            </a:r>
            <a:br>
              <a:rPr lang="en-GB" noProof="0" dirty="0"/>
            </a:br>
            <a:r>
              <a:rPr lang="en-GB" sz="2000" b="1" noProof="0" dirty="0"/>
              <a:t>Recommendations:</a:t>
            </a:r>
            <a:endParaRPr lang="en-GB" sz="2000" noProof="0" dirty="0"/>
          </a:p>
          <a:p>
            <a:r>
              <a:rPr lang="en-GB" sz="2000" noProof="0" dirty="0"/>
              <a:t>- Prioritize 5% and 10% tiers; restrict 15% to clear strategic cases.</a:t>
            </a:r>
          </a:p>
          <a:p>
            <a:r>
              <a:rPr lang="en-GB" sz="2000" noProof="0" dirty="0"/>
              <a:t>Add approval guardrails for higher discounts.</a:t>
            </a:r>
          </a:p>
          <a:p>
            <a:pPr>
              <a:defRPr sz="2000"/>
            </a:pP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E00B55-7F8C-458E-7FB2-E54BC40ED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2" y="1025609"/>
            <a:ext cx="2095792" cy="1181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CA20C1-8D92-FF84-2A68-9F085C7A7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781" y="1025609"/>
            <a:ext cx="2276793" cy="1276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252255-3078-0CDE-925F-CE54F856E8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376497"/>
            <a:ext cx="4984883" cy="34624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EBA43-EC03-6D9E-964A-73775C6F38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7726" y="2295625"/>
            <a:ext cx="3208419" cy="39202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237495" cy="1143000"/>
          </a:xfrm>
        </p:spPr>
        <p:txBody>
          <a:bodyPr/>
          <a:lstStyle/>
          <a:p>
            <a:r>
              <a:rPr lang="en-GB" noProof="0" dirty="0"/>
              <a:t>Decision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1358"/>
          </a:xfrm>
        </p:spPr>
        <p:txBody>
          <a:bodyPr/>
          <a:lstStyle/>
          <a:p>
            <a:pPr>
              <a:defRPr sz="2200"/>
            </a:pPr>
            <a:r>
              <a:rPr lang="en-GB" noProof="0" dirty="0"/>
              <a:t>Defend and expand core revenue pools (UK, Shop/Online)</a:t>
            </a:r>
          </a:p>
          <a:p>
            <a:pPr>
              <a:defRPr sz="2200"/>
            </a:pPr>
            <a:r>
              <a:rPr lang="en-GB" noProof="0" dirty="0"/>
              <a:t>Improve rep consistency through manager-led coaching</a:t>
            </a:r>
          </a:p>
          <a:p>
            <a:pPr>
              <a:defRPr sz="2200"/>
            </a:pPr>
            <a:r>
              <a:rPr lang="en-GB" noProof="0" dirty="0"/>
              <a:t>Optimize promo mix toward lower discount tiers</a:t>
            </a:r>
          </a:p>
          <a:p>
            <a:pPr marL="0" indent="0">
              <a:buNone/>
              <a:defRPr sz="2200"/>
            </a:pPr>
            <a:r>
              <a:rPr lang="en-GB" noProof="0" dirty="0"/>
              <a:t>Expected outcome: sustain growth while improving revenue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9CDFC-A14B-4797-2EDE-B536365EE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95243-1238-2740-2464-AA76F232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37495" cy="1143000"/>
          </a:xfrm>
        </p:spPr>
        <p:txBody>
          <a:bodyPr/>
          <a:lstStyle/>
          <a:p>
            <a:r>
              <a:rPr lang="en-GB" b="1" noProof="0" dirty="0"/>
              <a:t>Approach Overview</a:t>
            </a:r>
            <a:endParaRPr lang="en-GB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8E8635-2E73-4083-028F-F85F8C57E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082590" cy="4525963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1. Reviewed raw data and checked the main fields.</a:t>
            </a:r>
          </a:p>
          <a:p>
            <a:pPr marL="0" indent="0">
              <a:buNone/>
            </a:pPr>
            <a:r>
              <a:rPr lang="en-GB" noProof="0" dirty="0"/>
              <a:t>2. Cleaned data in SQL and created reporting views.</a:t>
            </a:r>
          </a:p>
          <a:p>
            <a:pPr marL="0" indent="0">
              <a:buNone/>
            </a:pPr>
            <a:r>
              <a:rPr lang="en-GB" noProof="0" dirty="0"/>
              <a:t>3. Used views in Power BI to build dashboard.</a:t>
            </a:r>
          </a:p>
          <a:p>
            <a:pPr marL="0" indent="0">
              <a:buNone/>
            </a:pPr>
            <a:r>
              <a:rPr lang="en-GB" noProof="0" dirty="0"/>
              <a:t>4. Used outputs to build short business narrative.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588E7E-F549-D714-2C3A-2171CC0CA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263" y="1802648"/>
            <a:ext cx="4369431" cy="363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50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F52E1-5F70-4D9C-03CA-B7231CBB6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1329-DE37-E572-8FE0-2BF0C342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37495" cy="1143000"/>
          </a:xfrm>
        </p:spPr>
        <p:txBody>
          <a:bodyPr>
            <a:normAutofit/>
          </a:bodyPr>
          <a:lstStyle/>
          <a:p>
            <a:r>
              <a:rPr lang="en-GB" b="1" noProof="0" dirty="0"/>
              <a:t>Build Choices and Why</a:t>
            </a:r>
            <a:endParaRPr lang="en-GB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19F946-A763-32DB-D671-F4A79CCF5DBA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682591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noProof="0" dirty="0"/>
              <a:t>1. Keep most of the transformation work in SQL and keep Power BI focused on visuals and lightweight measures.</a:t>
            </a:r>
          </a:p>
          <a:p>
            <a:pPr marL="0" indent="0">
              <a:buNone/>
            </a:pPr>
            <a:r>
              <a:rPr lang="en-GB" noProof="0" dirty="0"/>
              <a:t>2. Used reporting views as a semantic layer</a:t>
            </a:r>
          </a:p>
          <a:p>
            <a:pPr marL="0" indent="0">
              <a:buFont typeface="Arial"/>
              <a:buNone/>
            </a:pPr>
            <a:endParaRPr lang="en-GB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514BB5-478A-2058-FF8C-015ACE067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124" y="1600200"/>
            <a:ext cx="358305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52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B692A-FCD3-9E94-6561-EA362D767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2DF8-55F6-B85E-CD07-B8CD4D47B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37495" cy="1143000"/>
          </a:xfrm>
        </p:spPr>
        <p:txBody>
          <a:bodyPr>
            <a:normAutofit/>
          </a:bodyPr>
          <a:lstStyle/>
          <a:p>
            <a:r>
              <a:rPr lang="en-GB" b="1" noProof="0" dirty="0"/>
              <a:t>Key Assumptions</a:t>
            </a:r>
            <a:endParaRPr lang="en-GB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134A32-C805-B1A4-0559-889012010602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682591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noProof="0" dirty="0"/>
              <a:t>1. Data as a valid short-term snapshot of data activity. </a:t>
            </a:r>
          </a:p>
          <a:p>
            <a:pPr marL="0" indent="0">
              <a:buNone/>
            </a:pPr>
            <a:r>
              <a:rPr lang="en-GB" noProof="0" dirty="0"/>
              <a:t>2. Revenue is the main performance measure.</a:t>
            </a:r>
          </a:p>
          <a:p>
            <a:pPr marL="0" indent="0">
              <a:buNone/>
            </a:pPr>
            <a:r>
              <a:rPr lang="en-GB" noProof="0" dirty="0"/>
              <a:t>3. Promotion effectiveness could be assessed through revenue, order volume, average order value, and revenue per unit.</a:t>
            </a:r>
          </a:p>
          <a:p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pPr marL="0" indent="0">
              <a:buFont typeface="Arial"/>
              <a:buNone/>
            </a:pP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3D2E8A-46FC-C124-F531-E8468066D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16" y="1509880"/>
            <a:ext cx="4020111" cy="33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43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54166-E95C-5FF7-E187-7DC17A45E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59D1-CC80-A4B0-7B40-FD05A57D5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37495" cy="1143000"/>
          </a:xfrm>
        </p:spPr>
        <p:txBody>
          <a:bodyPr>
            <a:normAutofit/>
          </a:bodyPr>
          <a:lstStyle/>
          <a:p>
            <a:r>
              <a:rPr lang="en-GB" b="1" noProof="0" dirty="0"/>
              <a:t>Data Challenges and Limitations</a:t>
            </a:r>
            <a:endParaRPr lang="en-GB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F87FC5-3415-D00C-51FB-66616E818575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682591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pPr marL="0" indent="0">
              <a:buFont typeface="Arial"/>
              <a:buNone/>
            </a:pPr>
            <a:endParaRPr lang="en-GB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A4789D1-9B73-D524-57F6-F54A427E2A87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682591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noProof="0" dirty="0"/>
              <a:t>1. Proper date format. </a:t>
            </a:r>
          </a:p>
          <a:p>
            <a:pPr marL="0" indent="0">
              <a:buNone/>
            </a:pPr>
            <a:r>
              <a:rPr lang="en-GB" noProof="0" dirty="0"/>
              <a:t>2. Model design.</a:t>
            </a:r>
          </a:p>
          <a:p>
            <a:pPr marL="0" indent="0">
              <a:buNone/>
            </a:pPr>
            <a:r>
              <a:rPr lang="en-GB" noProof="0" dirty="0"/>
              <a:t>3. Business interpretation.</a:t>
            </a:r>
          </a:p>
          <a:p>
            <a:pPr marL="0" indent="0">
              <a:buNone/>
            </a:pPr>
            <a:r>
              <a:rPr lang="en-GB" noProof="0" dirty="0"/>
              <a:t>4. Short time window.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pPr marL="0" indent="0">
              <a:buFont typeface="Arial"/>
              <a:buNone/>
            </a:pP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95EDA2-98B5-A27E-26AA-453C3733E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966" y="2178280"/>
            <a:ext cx="4836752" cy="288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08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268A4-2B91-0497-8E88-58B0CFA91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F4A09-507A-D3F5-0EEE-FAFB1F7B0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37495" cy="1143000"/>
          </a:xfrm>
        </p:spPr>
        <p:txBody>
          <a:bodyPr>
            <a:normAutofit/>
          </a:bodyPr>
          <a:lstStyle/>
          <a:p>
            <a:r>
              <a:rPr lang="en-GB" b="1" noProof="0" dirty="0"/>
              <a:t>What I Would Do Next</a:t>
            </a:r>
            <a:endParaRPr lang="en-GB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89B36E-A0B2-3A66-CE2A-5BCF95F4058F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682591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pPr marL="0" indent="0">
              <a:buFont typeface="Arial"/>
              <a:buNone/>
            </a:pPr>
            <a:endParaRPr lang="en-GB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E869A0E-2ECF-F14D-4410-C6F6906C0C1F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7058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noProof="0" dirty="0"/>
              <a:t>1. Load longer history. </a:t>
            </a:r>
          </a:p>
          <a:p>
            <a:pPr marL="0" indent="0">
              <a:buNone/>
            </a:pPr>
            <a:r>
              <a:rPr lang="en-GB" noProof="0" dirty="0"/>
              <a:t>2. Add cost and margin promotion</a:t>
            </a:r>
            <a:br>
              <a:rPr lang="en-GB" noProof="0" dirty="0"/>
            </a:br>
            <a:r>
              <a:rPr lang="en-GB" noProof="0" dirty="0"/>
              <a:t>data.</a:t>
            </a:r>
          </a:p>
          <a:p>
            <a:pPr marL="0" indent="0">
              <a:buNone/>
            </a:pPr>
            <a:r>
              <a:rPr lang="en-GB" noProof="0" dirty="0"/>
              <a:t>3. Fact and Dimensions table in </a:t>
            </a:r>
            <a:br>
              <a:rPr lang="en-GB" noProof="0" dirty="0"/>
            </a:br>
            <a:r>
              <a:rPr lang="en-GB" noProof="0" dirty="0"/>
              <a:t>Power</a:t>
            </a:r>
            <a:r>
              <a:rPr lang="pl-PL" noProof="0" dirty="0"/>
              <a:t> </a:t>
            </a:r>
            <a:r>
              <a:rPr lang="en-GB" noProof="0" dirty="0"/>
              <a:t>BI.</a:t>
            </a:r>
          </a:p>
          <a:p>
            <a:pPr marL="0" indent="0">
              <a:buNone/>
            </a:pPr>
            <a:r>
              <a:rPr lang="en-GB" noProof="0" dirty="0"/>
              <a:t>4. Automate a weekly performance. 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Font typeface="Arial"/>
              <a:buNone/>
            </a:pP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B72F6-DA75-A213-4262-6FF9F4783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790" y="1239287"/>
            <a:ext cx="3421904" cy="492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35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796</Words>
  <Application>Microsoft Office PowerPoint</Application>
  <PresentationFormat>Widescreen</PresentationFormat>
  <Paragraphs>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Sales Performance Review</vt:lpstr>
      <vt:lpstr>Executive Snapshot</vt:lpstr>
      <vt:lpstr>Revenue Concentration</vt:lpstr>
      <vt:lpstr>Sales Rep Performance</vt:lpstr>
      <vt:lpstr>Promotion Effectiveness</vt:lpstr>
      <vt:lpstr>Decision Summary</vt:lpstr>
      <vt:lpstr>Approach Overview</vt:lpstr>
      <vt:lpstr>Build Choices and Why</vt:lpstr>
      <vt:lpstr>Key Assumptions</vt:lpstr>
      <vt:lpstr>Data Challenges and Limitations</vt:lpstr>
      <vt:lpstr>What I Would Do Next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Michał Bronowski</cp:lastModifiedBy>
  <cp:revision>8</cp:revision>
  <dcterms:created xsi:type="dcterms:W3CDTF">2013-01-27T09:14:16Z</dcterms:created>
  <dcterms:modified xsi:type="dcterms:W3CDTF">2026-05-05T21:44:02Z</dcterms:modified>
  <cp:category/>
</cp:coreProperties>
</file>